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 Aqlan" userId="30060b35bde8f536" providerId="LiveId" clId="{90F113B3-10C7-4257-BFFC-F410A3DB7BB4}"/>
    <pc:docChg chg="modSld">
      <pc:chgData name="Samar Aqlan" userId="30060b35bde8f536" providerId="LiveId" clId="{90F113B3-10C7-4257-BFFC-F410A3DB7BB4}" dt="2026-06-11T00:55:35.569" v="8" actId="20577"/>
      <pc:docMkLst>
        <pc:docMk/>
      </pc:docMkLst>
      <pc:sldChg chg="modSp mod">
        <pc:chgData name="Samar Aqlan" userId="30060b35bde8f536" providerId="LiveId" clId="{90F113B3-10C7-4257-BFFC-F410A3DB7BB4}" dt="2026-06-11T00:55:35.569" v="8" actId="20577"/>
        <pc:sldMkLst>
          <pc:docMk/>
          <pc:sldMk cId="0" sldId="259"/>
        </pc:sldMkLst>
        <pc:spChg chg="mod">
          <ac:chgData name="Samar Aqlan" userId="30060b35bde8f536" providerId="LiveId" clId="{90F113B3-10C7-4257-BFFC-F410A3DB7BB4}" dt="2026-06-11T00:55:35.569" v="8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mar Aqlan" userId="30060b35bde8f536" providerId="LiveId" clId="{90F113B3-10C7-4257-BFFC-F410A3DB7BB4}" dt="2026-06-11T00:55:27.462" v="4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Samar Aqlan" userId="30060b35bde8f536" providerId="LiveId" clId="{90F113B3-10C7-4257-BFFC-F410A3DB7BB4}" dt="2026-06-10T01:38:52.327" v="2" actId="1076"/>
        <pc:sldMkLst>
          <pc:docMk/>
          <pc:sldMk cId="3958227001" sldId="268"/>
        </pc:sldMkLst>
        <pc:spChg chg="mod">
          <ac:chgData name="Samar Aqlan" userId="30060b35bde8f536" providerId="LiveId" clId="{90F113B3-10C7-4257-BFFC-F410A3DB7BB4}" dt="2026-06-10T01:38:52.327" v="2" actId="1076"/>
          <ac:spMkLst>
            <pc:docMk/>
            <pc:sldMk cId="3958227001" sldId="268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3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Normals</c:v>
                </c:pt>
                <c:pt idx="1">
                  <c:v>Histogram</c:v>
                </c:pt>
                <c:pt idx="2">
                  <c:v>DBSCAN</c:v>
                </c:pt>
                <c:pt idx="3">
                  <c:v>RANSAC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0.91300000000000003</c:v>
                </c:pt>
                <c:pt idx="1">
                  <c:v>0.88900000000000001</c:v>
                </c:pt>
                <c:pt idx="2">
                  <c:v>0.877</c:v>
                </c:pt>
                <c:pt idx="3">
                  <c:v>0.78400000000000003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62-4514-88EF-14C52ADE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3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Normals</c:v>
                </c:pt>
                <c:pt idx="1">
                  <c:v>Histogram</c:v>
                </c:pt>
                <c:pt idx="2">
                  <c:v>DBSCAN</c:v>
                </c:pt>
                <c:pt idx="3">
                  <c:v>RANSAC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0.96599999999999997</c:v>
                </c:pt>
                <c:pt idx="1">
                  <c:v>0.97499999999999998</c:v>
                </c:pt>
                <c:pt idx="2">
                  <c:v>0.97699999999999998</c:v>
                </c:pt>
                <c:pt idx="3">
                  <c:v>0.88800000000000001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62-4514-88EF-14C52ADEF5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3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6E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0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3A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Steppable F1</c:v>
                </c:pt>
              </c:strCache>
            </c:strRef>
          </c:tx>
          <c:spPr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0.02</c:v>
                </c:pt>
                <c:pt idx="4">
                  <c:v>0.03</c:v>
                </c:pt>
                <c:pt idx="5">
                  <c:v>0.05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0.91800000000000004</c:v>
                </c:pt>
                <c:pt idx="1">
                  <c:v>0.91500000000000004</c:v>
                </c:pt>
                <c:pt idx="2">
                  <c:v>0.90700000000000003</c:v>
                </c:pt>
                <c:pt idx="3">
                  <c:v>0.86099999999999999</c:v>
                </c:pt>
                <c:pt idx="4">
                  <c:v>0.76900000000000002</c:v>
                </c:pt>
                <c:pt idx="5">
                  <c:v>0.57699999999999996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DF9-43EE-A1A5-3DDD5333A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7077"/>
                    </a:solidFill>
                    <a:latin typeface="Arial"/>
                  </a:defRPr>
                </a:pPr>
                <a:r>
                  <a:rPr lang="en-ID" sz="1200" b="0" i="0" u="none" strike="noStrike" dirty="0">
                    <a:solidFill>
                      <a:srgbClr val="5E7077"/>
                    </a:solidFill>
                    <a:latin typeface="Arial"/>
                  </a:rPr>
                  <a:t>LiDAR noise </a:t>
                </a:r>
                <a:r>
                  <a:rPr lang="el-GR" sz="1200" b="0" i="0" u="none" strike="noStrike" dirty="0">
                    <a:solidFill>
                      <a:srgbClr val="5E7077"/>
                    </a:solidFill>
                    <a:latin typeface="Arial"/>
                  </a:rPr>
                  <a:t>σ (</a:t>
                </a:r>
                <a:r>
                  <a:rPr lang="en-ID" sz="1200" b="0" i="0" u="none" strike="noStrike" dirty="0">
                    <a:solidFill>
                      <a:srgbClr val="5E7077"/>
                    </a:solidFill>
                    <a:latin typeface="Arial"/>
                  </a:rPr>
                  <a:t>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D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7077"/>
                    </a:solidFill>
                    <a:latin typeface="Arial"/>
                  </a:defRPr>
                </a:pPr>
                <a:r>
                  <a:rPr lang="en-ID" sz="1200" b="0" i="0" u="none" strike="noStrike">
                    <a:solidFill>
                      <a:srgbClr val="5E7077"/>
                    </a:solidFill>
                    <a:latin typeface="Arial"/>
                  </a:rPr>
                  <a:t>Steppable 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0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730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asymmetry: false positives (stepping where there is no tread) are dangerous; false negatives are merely conservative. This framing justifies why we later prefer a high-precision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cloud is generated from these equations, so we know the true label of every point. i indexes the step (0..3). The 0.02 m Gaussian jitter on treads is mandated by the brief and turns out to matter a lot for noise sensitivity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asked for at least two methods; we implemented four so we can compare. They encode the same geometric priors differently: per-point (1), global planes (2), clustering (3), and a 1-D height signal (4).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normals method recovers nearly all treads (recall 0.865) at high precision. Visually the predicted cloud matches the ground truth closely; the main loss is some tread-edge points dropped into 'other'.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trade-off: the normals method wins on overall F1, but DBSCAN and the histogram reach ~0.98 precision. For a robot, that precision is the more important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sweeps. Noise hurts a lot because it corrupts the local normals the methods rely on. Outliers barely matter. This tells a robot designer that sensor quality, not stray points, is the thing to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asymmetric-cost framing from slide 2. The confusion matrix shows the dominant error is dropping tread-edge points into 'other' (conservative, safe), rather than mislabelling risers as steppable (dangerous).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ircase-pointcloud-segmentation/paper/figures/raw_pointcloud.png">
            <a:extLst>
              <a:ext uri="{FF2B5EF4-FFF2-40B4-BE49-F238E27FC236}">
                <a16:creationId xmlns:a16="http://schemas.microsoft.com/office/drawing/2014/main" id="{7A3E5755-3272-4510-FBAF-F1638212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96" y="2958399"/>
            <a:ext cx="3842417" cy="3304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C2EF9C-D8D8-43F2-5803-CFDDD1B6E3EA}"/>
              </a:ext>
            </a:extLst>
          </p:cNvPr>
          <p:cNvSpPr txBox="1"/>
          <p:nvPr/>
        </p:nvSpPr>
        <p:spPr>
          <a:xfrm>
            <a:off x="166887" y="245500"/>
            <a:ext cx="8342631" cy="6263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800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 PROJECT · POINT-CLOUD PERCEPTION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Treadable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Surface Segmentation of a Simulated 4-Step Staircase Point Cloud Using RANSAC, PCA-Normal Analysis, and DBSCAN</a:t>
            </a:r>
          </a:p>
          <a:p>
            <a:pPr marL="0" indent="0" algn="ctr">
              <a:lnSpc>
                <a:spcPct val="102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2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Comparative Evaluation for Stair-Climbing Robot Perception</a:t>
            </a:r>
          </a:p>
          <a:p>
            <a:pPr algn="ctr">
              <a:lnSpc>
                <a:spcPct val="102000"/>
              </a:lnSpc>
            </a:pPr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2000"/>
              </a:lnSpc>
            </a:pPr>
            <a:endParaRPr lang="en-US" sz="18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NAME:Samar</a:t>
            </a:r>
            <a:r>
              <a:rPr lang="en-US" sz="1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Gamil Ahmed Aqlan </a:t>
            </a:r>
            <a:r>
              <a:rPr lang="en-US" sz="18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Aldubai</a:t>
            </a:r>
            <a:endParaRPr lang="en-US" sz="18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NRP:1225800014</a:t>
            </a:r>
          </a:p>
          <a:p>
            <a:pPr marL="0" indent="0" algn="ctr">
              <a:buNone/>
            </a:pPr>
            <a:endParaRPr lang="en-US" sz="18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Dept. of Information &amp; Computer Engineering, PENS</a:t>
            </a:r>
          </a:p>
          <a:p>
            <a:pPr algn="ctr">
              <a:lnSpc>
                <a:spcPct val="102000"/>
              </a:lnSpc>
            </a:pPr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2000"/>
              </a:lnSpc>
            </a:pPr>
            <a:endParaRPr lang="en-US" sz="18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2000"/>
              </a:lnSpc>
            </a:pPr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2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2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33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115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Problem: Where Can a Robot Step?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0588" y="1073860"/>
            <a:ext cx="62169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stair-climbing robot must turn a raw LiDAR scan into a decision about where a foot can land safely. Every point is labelled as one of three classes: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STEPPABLE  - horizontal tread, safe to step on</a:t>
            </a:r>
          </a:p>
          <a:p>
            <a:pPr>
              <a:lnSpc>
                <a:spcPct val="108000"/>
              </a:lnSpc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RISER - vertical face between steps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>
              <a:lnSpc>
                <a:spcPct val="108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OTHER  - edges, sensor noise, outliers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288749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CE4B4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384048" y="341089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E9CA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70588" y="4731461"/>
            <a:ext cx="6643396" cy="1623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6000"/>
              </a:lnSpc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is safety-critical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error cost is asymmetric. Calling a riser or edge “steppable” can cause a misstep; missing a valid tread only wastes a foothold. So steppable PRECISION matters more than raw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staircase-pointcloud-segmentation/paper/figures/raw_point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479" y="1600200"/>
            <a:ext cx="4347442" cy="3657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5240" y="5440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~18k-point staircase, coloured by ground-truth class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68808" y="2364097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517" y="182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Synthetic Data from Mathematical Equations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9107" y="133959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Parametric generator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steps · width 2.5 m · tread depth 0.30 m · step height 0.18 m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Tread (steppable)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~ U(0, w)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y ~ U(i·d, (i+1)·d)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z =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i·h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εz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εz~N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(0, 0.02²)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6052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Riser (vertical)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60520" y="26974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~ U(0, w)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y =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i·d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εy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εy~N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(0, 0.02²)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z ~ U((i-1)·h,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i·h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5517" y="4178809"/>
            <a:ext cx="6755363" cy="2397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Plus realistic corruption: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isotropic LiDAR noise, uniform outliers, and edge clutter at every tread/riser join.</a:t>
            </a:r>
          </a:p>
          <a:p>
            <a:pPr marL="0" indent="0">
              <a:lnSpc>
                <a:spcPct val="106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18,270                                    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labelled points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                  12,000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steppable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· 5,400 riser · 870 other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staircase-pointcloud-segmentation/paper/figures/raw_point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650" y="1783080"/>
            <a:ext cx="4293099" cy="3611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35240" y="5440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point carries an exact ground-truth label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5" y="203967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Four Geometric (Non-Learning) Methods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PCA Normal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37360" y="2304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Estimate each point's surface normal from a local k-NN PCA; classify by the angle of the normal to the z-axis.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6640" y="1755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Multi-Plane RANSAC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06640" y="2304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Iteratively fit </a:t>
            </a:r>
            <a:r>
              <a:rPr lang="en-US" sz="16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planes -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vertical risers first, then horizontal </a:t>
            </a:r>
            <a:r>
              <a:rPr lang="en-US" sz="16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treads -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 tight orientation tolerances.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0" y="4087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Normal-Augmented DBSCAN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37360" y="46360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 in [x, y, z, w·n] space so perpendicular surfaces separate; classify each cluster by its plane slope.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4087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Height-Histogram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06640" y="46360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tread elevations as peaks in the z-histogram; label points within a band around each peak.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823" y="1371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Result: Best Method - PCA Normals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staircase-pointcloud-segmentation/paper/figures/before_after_norm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43724"/>
            <a:ext cx="7589520" cy="3102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2100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Before (ground truth)  vs.  after (predicted) - green steppable, red riser, grey other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89720" y="1664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0.913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89720" y="2231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(steppable)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89720" y="2898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0.966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897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(steppable)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89720" y="4133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0.840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89720" y="4700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IoU (steppable)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153" y="182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Comparing All Four Methods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261629259"/>
              </p:ext>
            </p:extLst>
          </p:nvPr>
        </p:nvGraphicFramePr>
        <p:xfrm>
          <a:off x="640080" y="146304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183880" y="1763486"/>
            <a:ext cx="3246120" cy="3677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  <a:spcAft>
                <a:spcPts val="800"/>
              </a:spcAft>
              <a:buSzPct val="100000"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numbers say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 best F1 / IoU and best recall.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DBSCAN &amp; Histogram: highest precision (~0.98) - the safety metric.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RANSAC: fast but lowest -plane leakage near step edges.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run in well under one second.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170" y="1371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Robustness to Noise &amp; Outliers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743187908"/>
              </p:ext>
            </p:extLst>
          </p:nvPr>
        </p:nvGraphicFramePr>
        <p:xfrm>
          <a:off x="640080" y="1554480"/>
          <a:ext cx="7040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996336" y="1605797"/>
            <a:ext cx="4096138" cy="1525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8000"/>
              </a:lnSpc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LiDAR noise = the binding constraint</a:t>
            </a: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falls 0.92 → 0.58 as σ grows to 0.05 m. Per-point normals inherit the surface jitter, so local quality degrades fast.</a:t>
            </a:r>
          </a:p>
          <a:p>
            <a:pPr marL="0" indent="0" algn="just">
              <a:lnSpc>
                <a:spcPct val="108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96336" y="3648269"/>
            <a:ext cx="4096138" cy="183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08000"/>
              </a:lnSpc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Outliers are tolerated well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only drops 0.92 → 0.875 as outliers rise to 20%, since stray points rarely form coherent planar support.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847" y="7315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Is It Safe for a Stair-Climbing Robot?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81424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737359" y="1480488"/>
            <a:ext cx="5932403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first</a:t>
            </a:r>
          </a:p>
          <a:p>
            <a:pPr marL="0" indent="0" algn="just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Pick a high-precision method (DBSCAN / histogram, ~0.98) so the robot is almost never told to step on a non-tread.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304495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737360" y="2761861"/>
            <a:ext cx="593240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Clean–moderate noise</a:t>
            </a:r>
          </a:p>
          <a:p>
            <a:pPr marL="0" indent="0" algn="just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σ ≤ 0.02 m, a precision-oriented pass plus a planner that commits only to confident treads is a sound basis for a cautious controller.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4535051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E4B4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737360" y="4261104"/>
            <a:ext cx="5932402" cy="118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noise</a:t>
            </a:r>
          </a:p>
          <a:p>
            <a:pPr marL="0" indent="0" algn="just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σ ≥ 0.05 m a single geometric pass is not enough - add temporal fusion across frames or a learned refinement stage.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staircase-pointcloud-segmentation/paper/figures/confusion_norm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603" y="1623527"/>
            <a:ext cx="3749039" cy="296821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18241" y="46908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Confusion matrix (PCA normals): main error is tread→other near edges, not riser confusion.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32170" y="3200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4604" y="2118049"/>
            <a:ext cx="5673012" cy="341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</a:p>
          <a:p>
            <a:pPr marL="0" indent="0" algn="just">
              <a:buNone/>
            </a:pPr>
            <a:endParaRPr lang="en-US" sz="1600" b="1" kern="0" spc="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b="1" kern="0" spc="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geometric methods compared on a fully-labelled synthetic staircase.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PCA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best overall (F1 0.913,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IoU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0.840).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DBSCAN &amp; histogram give the highest precision (~0.98) -best for foothold safety.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LiDAR noise, not outliers, is the limiting factor.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04386" y="2118049"/>
            <a:ext cx="5881396" cy="353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WORK</a:t>
            </a:r>
          </a:p>
          <a:p>
            <a:pPr marL="0" indent="0" algn="just">
              <a:buNone/>
            </a:pPr>
            <a:endParaRPr lang="en-US" sz="1600" b="1" kern="0" spc="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on real LiDAR scans with occlusion and clutter.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 fusion across frames for high-noise robustness.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Hybrid: high-precision geometric prior supervising a learned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segmenter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with a footstep planner on the robot.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87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161" y="207139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Code, Paper &amp; Repository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5604" y="1604865"/>
            <a:ext cx="5500396" cy="364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included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src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 - generator, 4 methods, evaluation, viz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notebooks/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mini_project.ipynb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runnable end-to-end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paper/ -IEEE LaTeX + compiled PDF + figures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results/ - figures +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metrics.json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README + GITHUB_SETUP guide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3111" y="1982286"/>
            <a:ext cx="4376057" cy="1514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</a:t>
            </a:r>
          </a:p>
          <a:p>
            <a:pPr marL="0" indent="0" algn="just">
              <a:buNone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github.com/&lt;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Samaraqlan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staircase-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pointcloud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-segmentation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8060" y="6054632"/>
            <a:ext cx="1081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5822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1134</Words>
  <Application>Microsoft Office PowerPoint</Application>
  <PresentationFormat>Widescreen</PresentationFormat>
  <Paragraphs>140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Segmentation of Steppable Surfaces</dc:title>
  <dc:subject>PptxGenJS Presentation</dc:subject>
  <dc:creator>Samar</dc:creator>
  <cp:lastModifiedBy>Samar Aqlan</cp:lastModifiedBy>
  <cp:revision>3</cp:revision>
  <dcterms:created xsi:type="dcterms:W3CDTF">2026-06-09T09:52:17Z</dcterms:created>
  <dcterms:modified xsi:type="dcterms:W3CDTF">2026-06-11T00:55:36Z</dcterms:modified>
</cp:coreProperties>
</file>