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  <p:sldId id="268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ar Aqlan" userId="30060b35bde8f536" providerId="LiveId" clId="{90F113B3-10C7-4257-BFFC-F410A3DB7BB4}"/>
    <pc:docChg chg="modSld">
      <pc:chgData name="Samar Aqlan" userId="30060b35bde8f536" providerId="LiveId" clId="{90F113B3-10C7-4257-BFFC-F410A3DB7BB4}" dt="2026-06-10T01:38:52.327" v="2" actId="1076"/>
      <pc:docMkLst>
        <pc:docMk/>
      </pc:docMkLst>
      <pc:sldChg chg="modSp mod">
        <pc:chgData name="Samar Aqlan" userId="30060b35bde8f536" providerId="LiveId" clId="{90F113B3-10C7-4257-BFFC-F410A3DB7BB4}" dt="2026-06-10T01:38:52.327" v="2" actId="1076"/>
        <pc:sldMkLst>
          <pc:docMk/>
          <pc:sldMk cId="3958227001" sldId="268"/>
        </pc:sldMkLst>
        <pc:spChg chg="mod">
          <ac:chgData name="Samar Aqlan" userId="30060b35bde8f536" providerId="LiveId" clId="{90F113B3-10C7-4257-BFFC-F410A3DB7BB4}" dt="2026-06-10T01:38:52.327" v="2" actId="1076"/>
          <ac:spMkLst>
            <pc:docMk/>
            <pc:sldMk cId="3958227001" sldId="268"/>
            <ac:spMk id="9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 i="0" u="none" strike="noStrike">
                    <a:solidFill>
                      <a:srgbClr val="1B3A44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Normals</c:v>
                </c:pt>
                <c:pt idx="1">
                  <c:v>Histogram</c:v>
                </c:pt>
                <c:pt idx="2">
                  <c:v>DBSCAN</c:v>
                </c:pt>
                <c:pt idx="3">
                  <c:v>RANSAC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0.91300000000000003</c:v>
                </c:pt>
                <c:pt idx="1">
                  <c:v>0.88900000000000001</c:v>
                </c:pt>
                <c:pt idx="2">
                  <c:v>0.877</c:v>
                </c:pt>
                <c:pt idx="3">
                  <c:v>0.78400000000000003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62-4514-88EF-14C52ADE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2E9E5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 i="0" u="none" strike="noStrike">
                    <a:solidFill>
                      <a:srgbClr val="1B3A44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Normals</c:v>
                </c:pt>
                <c:pt idx="1">
                  <c:v>Histogram</c:v>
                </c:pt>
                <c:pt idx="2">
                  <c:v>DBSCAN</c:v>
                </c:pt>
                <c:pt idx="3">
                  <c:v>RANSAC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0.96599999999999997</c:v>
                </c:pt>
                <c:pt idx="1">
                  <c:v>0.97499999999999998</c:v>
                </c:pt>
                <c:pt idx="2">
                  <c:v>0.97699999999999998</c:v>
                </c:pt>
                <c:pt idx="3">
                  <c:v>0.88800000000000001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62-4514-88EF-14C52ADEF5C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3A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6"/>
        </c:scaling>
        <c:delete val="0"/>
        <c:axPos val="l"/>
        <c:majorGridlines>
          <c:spPr>
            <a:ln w="6350" cap="flat">
              <a:solidFill>
                <a:srgbClr val="E6ED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70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3A44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Steppable F1</c:v>
                </c:pt>
              </c:strCache>
            </c:strRef>
          </c:tx>
          <c:spPr>
            <a:ln w="38100" cap="flat">
              <a:solidFill>
                <a:srgbClr val="0E7C86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0E7C86"/>
              </a:solidFill>
              <a:ln w="9525" cap="flat">
                <a:solidFill>
                  <a:srgbClr val="0E7C8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0.005</c:v>
                </c:pt>
                <c:pt idx="2">
                  <c:v>0.01</c:v>
                </c:pt>
                <c:pt idx="3">
                  <c:v>0.02</c:v>
                </c:pt>
                <c:pt idx="4">
                  <c:v>0.03</c:v>
                </c:pt>
                <c:pt idx="5">
                  <c:v>0.05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0.91800000000000004</c:v>
                </c:pt>
                <c:pt idx="1">
                  <c:v>0.91500000000000004</c:v>
                </c:pt>
                <c:pt idx="2">
                  <c:v>0.90700000000000003</c:v>
                </c:pt>
                <c:pt idx="3">
                  <c:v>0.86099999999999999</c:v>
                </c:pt>
                <c:pt idx="4">
                  <c:v>0.76900000000000002</c:v>
                </c:pt>
                <c:pt idx="5">
                  <c:v>0.57699999999999996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1DF9-43EE-A1A5-3DDD5333ADC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E7077"/>
                    </a:solidFill>
                    <a:latin typeface="Arial"/>
                  </a:defRPr>
                </a:pPr>
                <a:r>
                  <a:rPr lang="en-ID" sz="1200" b="0" i="0" u="none" strike="noStrike" dirty="0">
                    <a:solidFill>
                      <a:srgbClr val="5E7077"/>
                    </a:solidFill>
                    <a:latin typeface="Arial"/>
                  </a:rPr>
                  <a:t>LiDAR noise </a:t>
                </a:r>
                <a:r>
                  <a:rPr lang="el-GR" sz="1200" b="0" i="0" u="none" strike="noStrike" dirty="0">
                    <a:solidFill>
                      <a:srgbClr val="5E7077"/>
                    </a:solidFill>
                    <a:latin typeface="Arial"/>
                  </a:rPr>
                  <a:t>σ (</a:t>
                </a:r>
                <a:r>
                  <a:rPr lang="en-ID" sz="1200" b="0" i="0" u="none" strike="noStrike" dirty="0">
                    <a:solidFill>
                      <a:srgbClr val="5E7077"/>
                    </a:solidFill>
                    <a:latin typeface="Arial"/>
                  </a:rPr>
                  <a:t>m)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3A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6ED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E7077"/>
                    </a:solidFill>
                    <a:latin typeface="Arial"/>
                  </a:defRPr>
                </a:pPr>
                <a:r>
                  <a:rPr lang="en-ID" sz="1200" b="0" i="0" u="none" strike="noStrike">
                    <a:solidFill>
                      <a:srgbClr val="5E7077"/>
                    </a:solidFill>
                    <a:latin typeface="Arial"/>
                  </a:rPr>
                  <a:t>Steppable F1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70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37306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the asymmetry: false positives (stepping where there is no tread) are dangerous; false negatives are merely conservative. This framing justifies why we later prefer a high-precision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cloud is generated from these equations, so we know the true label of every point. i indexes the step (0..3). The 0.02 m Gaussian jitter on treads is mandated by the brief and turns out to matter a lot for noise sensitivity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brief asked for at least two methods; we implemented four so we can compare. They encode the same geometric priors differently: per-point (1), global planes (2), clustering (3), and a 1-D height signal (4).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normals method recovers nearly all treads (recall 0.865) at high precision. Visually the predicted cloud matches the ground truth closely; the main loss is some tread-edge points dropped into 'other'.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trade-off: the normals method wins on overall F1, but DBSCAN and the histogram reach ~0.98 precision. For a robot, that precision is the more important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separate sweeps. Noise hurts a lot because it corrupts the local normals the methods rely on. Outliers barely matter. This tells a robot designer that sensor quality, not stray points, is the thing to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it back to the asymmetric-cost framing from slide 2. The confusion matrix shows the dominant error is dropping tread-edge points into 'other' (conservative, safe), rather than mislabelling risers as steppable (dangerous).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taircase-pointcloud-segmentation/paper/figures/raw_pointcloud.png">
            <a:extLst>
              <a:ext uri="{FF2B5EF4-FFF2-40B4-BE49-F238E27FC236}">
                <a16:creationId xmlns:a16="http://schemas.microsoft.com/office/drawing/2014/main" id="{7A3E5755-3272-4510-FBAF-F1638212C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2696" y="2958399"/>
            <a:ext cx="3842417" cy="330468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CC2EF9C-D8D8-43F2-5803-CFDDD1B6E3EA}"/>
              </a:ext>
            </a:extLst>
          </p:cNvPr>
          <p:cNvSpPr txBox="1"/>
          <p:nvPr/>
        </p:nvSpPr>
        <p:spPr>
          <a:xfrm>
            <a:off x="166887" y="245500"/>
            <a:ext cx="8342631" cy="62635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2000"/>
              </a:lnSpc>
            </a:pPr>
            <a:r>
              <a:rPr lang="en-US" sz="1800" kern="0" spc="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MINI PROJECT · POINT-CLOUD PERCEPTION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lnSpc>
                <a:spcPct val="102000"/>
              </a:lnSpc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lnSpc>
                <a:spcPct val="102000"/>
              </a:lnSpc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lnSpc>
                <a:spcPct val="102000"/>
              </a:lnSpc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lnSpc>
                <a:spcPct val="102000"/>
              </a:lnSpc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Robust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Treadable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Surface Segmentation of a Simulated 4-Step Staircase Point Cloud Using RANSAC, PCA-Normal Analysis, and DBSCAN</a:t>
            </a:r>
          </a:p>
          <a:p>
            <a:pPr marL="0" indent="0" algn="ctr">
              <a:lnSpc>
                <a:spcPct val="102000"/>
              </a:lnSpc>
              <a:buNone/>
            </a:pP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lnSpc>
                <a:spcPct val="102000"/>
              </a:lnSpc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lnSpc>
                <a:spcPct val="102000"/>
              </a:lnSpc>
              <a:buNone/>
            </a:pP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02000"/>
              </a:lnSpc>
            </a:pPr>
            <a:r>
              <a:rPr lang="en-US" sz="18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 Comparative Evaluation for Stair-Climbing Robot Perception</a:t>
            </a:r>
          </a:p>
          <a:p>
            <a:pPr algn="ctr">
              <a:lnSpc>
                <a:spcPct val="102000"/>
              </a:lnSpc>
            </a:pPr>
            <a:endParaRPr lang="en-US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algn="ctr">
              <a:lnSpc>
                <a:spcPct val="102000"/>
              </a:lnSpc>
            </a:pPr>
            <a:endParaRPr lang="en-US" sz="1800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1800" b="1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NAME:Samar</a:t>
            </a:r>
            <a:r>
              <a:rPr lang="en-US" sz="18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Gamil Ahmed Aqlan </a:t>
            </a:r>
            <a:r>
              <a:rPr lang="en-US" sz="1800" b="1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Aldubai</a:t>
            </a:r>
            <a:endParaRPr lang="en-US" sz="1800" b="1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800" b="1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NRP:1225800014</a:t>
            </a:r>
          </a:p>
          <a:p>
            <a:pPr marL="0" indent="0" algn="ctr">
              <a:buNone/>
            </a:pPr>
            <a:endParaRPr lang="en-US" sz="1800" b="1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18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Dept. of Information &amp; Computer Engineering, PENS</a:t>
            </a:r>
          </a:p>
          <a:p>
            <a:pPr algn="ctr">
              <a:lnSpc>
                <a:spcPct val="102000"/>
              </a:lnSpc>
            </a:pPr>
            <a:endParaRPr lang="en-US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algn="ctr">
              <a:lnSpc>
                <a:spcPct val="102000"/>
              </a:lnSpc>
            </a:pPr>
            <a:endParaRPr lang="en-US" sz="1800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algn="ctr">
              <a:lnSpc>
                <a:spcPct val="102000"/>
              </a:lnSpc>
            </a:pPr>
            <a:endParaRPr lang="en-US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algn="ctr">
              <a:lnSpc>
                <a:spcPct val="102000"/>
              </a:lnSpc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lnSpc>
                <a:spcPct val="102000"/>
              </a:lnSpc>
              <a:buNone/>
            </a:pP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23318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24115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The Problem: Where Can a Robot Step?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270588" y="1073860"/>
            <a:ext cx="6216986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endParaRPr lang="en-US" sz="1600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 stair-climbing robot must turn a raw LiDAR scan into a decision about where a foot can land safely. Every point is labelled as one of three classes:</a:t>
            </a:r>
          </a:p>
          <a:p>
            <a:pPr marL="0" indent="0">
              <a:lnSpc>
                <a:spcPct val="108000"/>
              </a:lnSpc>
              <a:buNone/>
            </a:pPr>
            <a:endParaRPr lang="en-US" sz="1600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0" indent="0">
              <a:lnSpc>
                <a:spcPct val="108000"/>
              </a:lnSpc>
              <a:buNone/>
            </a:pPr>
            <a:endParaRPr lang="en-US" sz="1600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08000"/>
              </a:lnSpc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           STEPPABLE  - horizontal tread, safe to step on</a:t>
            </a:r>
          </a:p>
          <a:p>
            <a:pPr>
              <a:lnSpc>
                <a:spcPct val="108000"/>
              </a:lnSpc>
            </a:pPr>
            <a:endParaRPr lang="en-US" sz="1600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>
              <a:lnSpc>
                <a:spcPct val="108000"/>
              </a:lnSpc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            RISER - vertical face between steps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8000"/>
              </a:lnSpc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</a:t>
            </a:r>
          </a:p>
          <a:p>
            <a:pPr>
              <a:lnSpc>
                <a:spcPct val="108000"/>
              </a:lnSpc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</a:t>
            </a: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OTHER  - edges, sensor noise, outliers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8000"/>
              </a:lnSpc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8000"/>
              </a:lnSpc>
              <a:buNone/>
            </a:pPr>
            <a:endParaRPr lang="en-US" sz="1600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0" indent="0">
              <a:lnSpc>
                <a:spcPct val="108000"/>
              </a:lnSpc>
              <a:buNone/>
            </a:pPr>
            <a:endParaRPr lang="en-US" sz="1600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0" indent="0">
              <a:lnSpc>
                <a:spcPct val="108000"/>
              </a:lnSpc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4048" y="2887498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CE4B4B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8" name="Shape 6"/>
          <p:cNvSpPr/>
          <p:nvPr/>
        </p:nvSpPr>
        <p:spPr>
          <a:xfrm>
            <a:off x="384048" y="3410899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8E9CA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270588" y="4731461"/>
            <a:ext cx="6643396" cy="1623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6000"/>
              </a:lnSpc>
            </a:pPr>
            <a:r>
              <a:rPr lang="en-US" sz="16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Why it is safety-critical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6000"/>
              </a:lnSpc>
              <a:buNone/>
            </a:pPr>
            <a:endParaRPr lang="en-US" sz="1600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0" indent="0">
              <a:lnSpc>
                <a:spcPct val="106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The error cost is asymmetric. Calling a riser or edge “steppable” can cause a misstep; missing a valid tread only wastes a foothold. So steppable PRECISION matters more than raw accuracy.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Image 0" descr="staircase-pointcloud-segmentation/paper/figures/raw_point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7479" y="1600200"/>
            <a:ext cx="4347442" cy="36576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635240" y="54406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~18k-point staircase, coloured by ground-truth class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2"/>
          <p:cNvSpPr/>
          <p:nvPr/>
        </p:nvSpPr>
        <p:spPr>
          <a:xfrm>
            <a:off x="368808" y="2364097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2E9E5B"/>
          </a:solidFill>
          <a:ln/>
        </p:spPr>
        <p:txBody>
          <a:bodyPr/>
          <a:lstStyle/>
          <a:p>
            <a:endParaRPr lang="en-ID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5517" y="1828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Synthetic Data from Mathematical Equations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19107" y="1339596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Parametric generator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 steps · width 2.5 m · tread depth 0.30 m · step height 0.18 m 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68680" y="23591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Tread (steppable)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x ~ U(0, w)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y ~ U(i·d, (i+1)·d)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z = </a:t>
            </a:r>
            <a:r>
              <a:rPr lang="en-US" sz="1600" dirty="0" err="1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i·h</a:t>
            </a:r>
            <a:r>
              <a:rPr lang="en-US" sz="1600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+ </a:t>
            </a:r>
            <a:r>
              <a:rPr lang="en-US" sz="1600" dirty="0" err="1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εz</a:t>
            </a:r>
            <a:r>
              <a:rPr lang="en-US" sz="1600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,  </a:t>
            </a:r>
            <a:r>
              <a:rPr lang="en-US" sz="1600" dirty="0" err="1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εz~N</a:t>
            </a:r>
            <a:r>
              <a:rPr lang="en-US" sz="1600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(0, 0.02²)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160520" y="23591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Riser (vertical)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160520" y="26974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x ~ U(0, w)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y = </a:t>
            </a:r>
            <a:r>
              <a:rPr lang="en-US" sz="1600" dirty="0" err="1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i·d</a:t>
            </a:r>
            <a:r>
              <a:rPr lang="en-US" sz="1600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+ </a:t>
            </a:r>
            <a:r>
              <a:rPr lang="en-US" sz="1600" dirty="0" err="1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εy</a:t>
            </a:r>
            <a:r>
              <a:rPr lang="en-US" sz="1600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,  </a:t>
            </a:r>
            <a:r>
              <a:rPr lang="en-US" sz="1600" dirty="0" err="1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εy~N</a:t>
            </a:r>
            <a:r>
              <a:rPr lang="en-US" sz="1600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(0, 0.02²)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z ~ U((i-1)·h, </a:t>
            </a:r>
            <a:r>
              <a:rPr lang="en-US" sz="1600" dirty="0" err="1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i·h</a:t>
            </a:r>
            <a:r>
              <a:rPr lang="en-US" sz="1600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85517" y="4178809"/>
            <a:ext cx="6755363" cy="2397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6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Plus realistic corruption:  </a:t>
            </a: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isotropic LiDAR noise, uniform outliers, and edge clutter at every tread/riser join.</a:t>
            </a:r>
          </a:p>
          <a:p>
            <a:pPr marL="0" indent="0">
              <a:lnSpc>
                <a:spcPct val="106000"/>
              </a:lnSpc>
              <a:buNone/>
            </a:pPr>
            <a:endParaRPr lang="en-US" sz="1600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0" indent="0">
              <a:lnSpc>
                <a:spcPct val="106000"/>
              </a:lnSpc>
              <a:buNone/>
            </a:pPr>
            <a:endParaRPr lang="en-US" sz="1600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18,270                                      </a:t>
            </a: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labelled points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                                          12,000 </a:t>
            </a:r>
            <a:r>
              <a:rPr lang="en-US" sz="16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steppable</a:t>
            </a: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· 5,400 riser · 870 other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6000"/>
              </a:lnSpc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6000"/>
              </a:lnSpc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" name="Image 0" descr="staircase-pointcloud-segmentation/paper/figures/raw_point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4650" y="1783080"/>
            <a:ext cx="4293099" cy="361188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635240" y="54406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Each point carries an exact ground-truth label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5585" y="203967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Four Geometric (Non-Learning) Methods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1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737360" y="175564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PCA Normal Analysis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737360" y="2304288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Estimate each point's surface normal from a local k-NN PCA; classify by the angle of the normal to the z-axis.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58368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2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406640" y="175564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Multi-Plane RANSAC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406640" y="2304288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Iteratively fit planes — vertical risers first, then horizontal treads — with tight orientation tolerances.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1440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3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737360" y="40873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Normal-Augmented DBSCAN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737360" y="4636008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Cluster in [x, y, z, w·n] space so perpendicular surfaces separate; classify each cluster by its plane slope.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58368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4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40873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Height-Histogram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406640" y="4636008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Detect tread elevations as peaks in the z-histogram; label points within a band around each peak.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8823" y="13716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Result: Best Method - PCA Normals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 0" descr="staircase-pointcloud-segmentation/paper/figures/before_after_norm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43724"/>
            <a:ext cx="7589520" cy="31025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421002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Before (ground truth)  vs.  after (predicted) - green steppable, red riser, grey other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89720" y="166420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0.913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9189720" y="22311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F1 (steppable)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9189720" y="289864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0.966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9189720" y="34655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Precision (steppable)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9189720" y="413308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0.840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9189720" y="470001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IoU (steppable)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8153" y="1828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Comparing All Four Methods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1261629259"/>
              </p:ext>
            </p:extLst>
          </p:nvPr>
        </p:nvGraphicFramePr>
        <p:xfrm>
          <a:off x="640080" y="1463040"/>
          <a:ext cx="704088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8183880" y="1763486"/>
            <a:ext cx="3246120" cy="3677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2000"/>
              </a:lnSpc>
              <a:spcAft>
                <a:spcPts val="800"/>
              </a:spcAft>
              <a:buSzPct val="100000"/>
            </a:pPr>
            <a:r>
              <a:rPr lang="en-US" sz="16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What the numbers say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600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12000"/>
              </a:lnSpc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6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Normals</a:t>
            </a: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: best F1 / IoU and best recall.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DBSCAN &amp; Histogram: highest precision (~0.98) - the safety metric.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RANSAC: fast but lowest -plane leakage near step edges.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All run in well under one second.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2170" y="13716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Robustness to Noise &amp; Outliers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3743187908"/>
              </p:ext>
            </p:extLst>
          </p:nvPr>
        </p:nvGraphicFramePr>
        <p:xfrm>
          <a:off x="640080" y="1554480"/>
          <a:ext cx="704088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7996336" y="1605797"/>
            <a:ext cx="4096138" cy="15255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lnSpc>
                <a:spcPct val="108000"/>
              </a:lnSpc>
              <a:buNone/>
            </a:pPr>
            <a:endParaRPr lang="en-US" sz="1600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algn="just">
              <a:lnSpc>
                <a:spcPct val="108000"/>
              </a:lnSpc>
            </a:pPr>
            <a:r>
              <a:rPr lang="en-US" sz="16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LiDAR noise = the binding constraint</a:t>
            </a:r>
            <a:endParaRPr lang="en-US" sz="1600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08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F1 falls 0.92 → 0.58 as σ grows to 0.05 m. Per-point normals inherit the surface jitter, so local quality degrades fast.</a:t>
            </a:r>
          </a:p>
          <a:p>
            <a:pPr marL="0" indent="0" algn="just">
              <a:lnSpc>
                <a:spcPct val="108000"/>
              </a:lnSpc>
              <a:buNone/>
            </a:pPr>
            <a:endParaRPr lang="en-US" sz="1600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7996336" y="3648269"/>
            <a:ext cx="4096138" cy="1838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08000"/>
              </a:lnSpc>
            </a:pPr>
            <a:r>
              <a:rPr lang="en-US" sz="16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Outliers are tolerated well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08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F1 only drops 0.92 → 0.875 as outliers rise to 20%, since stray points rarely form coherent planar support.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4847" y="7315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Is It Safe for a Stair-Climbing Robot?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68680" y="1814244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2E9E5B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5" name="Text 3"/>
          <p:cNvSpPr/>
          <p:nvPr/>
        </p:nvSpPr>
        <p:spPr>
          <a:xfrm>
            <a:off x="1737359" y="1480488"/>
            <a:ext cx="5932403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6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Precision first</a:t>
            </a:r>
          </a:p>
          <a:p>
            <a:pPr marL="0" indent="0" algn="just">
              <a:buNone/>
            </a:pPr>
            <a:endParaRPr lang="en-US" sz="1600" b="1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Pick a high-precision method (DBSCAN / histogram, ~0.98) so the robot is almost never told to step on a non-tread.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68680" y="3044952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1737360" y="2761861"/>
            <a:ext cx="593240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6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Clean–moderate noise</a:t>
            </a:r>
          </a:p>
          <a:p>
            <a:pPr marL="0" indent="0" algn="just">
              <a:buNone/>
            </a:pPr>
            <a:endParaRPr lang="en-US" sz="1600" b="1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At σ ≤ 0.02 m, a precision-oriented pass plus a planner that commits only to confident treads is a sound basis for a cautious controller.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68680" y="4535051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CE4B4B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3" name="Text 11"/>
          <p:cNvSpPr/>
          <p:nvPr/>
        </p:nvSpPr>
        <p:spPr>
          <a:xfrm>
            <a:off x="1737360" y="4261104"/>
            <a:ext cx="5932402" cy="11879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6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High noise</a:t>
            </a:r>
          </a:p>
          <a:p>
            <a:pPr marL="0" indent="0" algn="just">
              <a:buNone/>
            </a:pPr>
            <a:endParaRPr lang="en-US" sz="1600" b="1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At σ ≥ 0.05 m a single geometric pass is not enough - add temporal fusion across frames or a learned refinement stage.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Image 0" descr="staircase-pointcloud-segmentation/paper/figures/confusion_norm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5603" y="1623527"/>
            <a:ext cx="3749039" cy="2968213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318241" y="4690872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Confusion matrix (PCA normals): main error is tread→other near edges, not riser confusion.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332170" y="32004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Conclusion &amp; Future Work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214604" y="2118049"/>
            <a:ext cx="5673012" cy="3415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600" b="1" kern="0" spc="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CONCLUSION</a:t>
            </a:r>
          </a:p>
          <a:p>
            <a:pPr marL="0" indent="0" algn="just">
              <a:buNone/>
            </a:pPr>
            <a:endParaRPr lang="en-US" sz="1600" b="1" kern="0" spc="200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n-US" sz="1600" b="1" kern="0" spc="200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Four geometric methods compared on a fully-labelled synthetic staircase.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PCA </a:t>
            </a:r>
            <a:r>
              <a:rPr lang="en-US" sz="16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normals</a:t>
            </a: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best overall (F1 0.913, </a:t>
            </a:r>
            <a:r>
              <a:rPr lang="en-US" sz="16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IoU</a:t>
            </a: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0.840).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DBSCAN &amp; histogram give the highest precision (~0.98) -best for foothold safety.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LiDAR noise, not outliers, is the limiting factor.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6304386" y="2118049"/>
            <a:ext cx="5881396" cy="3533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600" b="1" kern="0" spc="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FUTURE WORK</a:t>
            </a:r>
          </a:p>
          <a:p>
            <a:pPr marL="0" indent="0" algn="just">
              <a:buNone/>
            </a:pPr>
            <a:endParaRPr lang="en-US" sz="1600" b="1" kern="0" spc="200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Evaluate on real LiDAR scans with occlusion and clutter.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Temporal fusion across frames for high-noise robustness.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Hybrid: high-precision geometric prior supervising a learned </a:t>
            </a:r>
            <a:r>
              <a:rPr lang="en-US" sz="16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segmenter</a:t>
            </a: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Integrate with a footstep planner on the robot.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68754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0161" y="207139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Code, Paper &amp; Repository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95604" y="1604865"/>
            <a:ext cx="5500396" cy="36482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What's included</a:t>
            </a:r>
          </a:p>
          <a:p>
            <a:pPr marL="0" indent="0">
              <a:buNone/>
            </a:pPr>
            <a:endParaRPr lang="en-US" sz="1600" b="1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600" b="1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src</a:t>
            </a: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/ - generator, 4 methods, evaluation, viz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notebooks/</a:t>
            </a:r>
            <a:r>
              <a:rPr lang="en-US" sz="16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mini_project.ipynb</a:t>
            </a: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- runnable end-to-end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paper/ -IEEE LaTeX + compiled PDF + figures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results/ - figures + </a:t>
            </a:r>
            <a:r>
              <a:rPr lang="en-US" sz="1600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metrics.json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README + GITHUB_SETUP guide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623111" y="1982286"/>
            <a:ext cx="4376057" cy="15143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6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Repository</a:t>
            </a:r>
          </a:p>
          <a:p>
            <a:pPr marL="0" indent="0" algn="just">
              <a:buNone/>
            </a:pPr>
            <a:endParaRPr lang="en-US" sz="1600" b="1" dirty="0"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15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github.com/&lt;</a:t>
            </a:r>
            <a:r>
              <a:rPr lang="en-US" sz="1600" dirty="0" err="1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Samaraqlan</a:t>
            </a:r>
            <a:r>
              <a:rPr lang="en-US" sz="1600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-G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15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staircase-</a:t>
            </a:r>
            <a:r>
              <a:rPr lang="en-US" sz="1600" dirty="0" err="1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pointcloud</a:t>
            </a:r>
            <a:r>
              <a:rPr lang="en-US" sz="1600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-segmentation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08060" y="6054632"/>
            <a:ext cx="1081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958227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433</TotalTime>
  <Words>1134</Words>
  <Application>Microsoft Office PowerPoint</Application>
  <PresentationFormat>Widescreen</PresentationFormat>
  <Paragraphs>140</Paragraphs>
  <Slides>10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Cambria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Geometric Segmentation of Steppable Surfaces</dc:title>
  <dc:subject>PptxGenJS Presentation</dc:subject>
  <dc:creator>Samar</dc:creator>
  <cp:lastModifiedBy>Samar Aqlan</cp:lastModifiedBy>
  <cp:revision>3</cp:revision>
  <dcterms:created xsi:type="dcterms:W3CDTF">2026-06-09T09:52:17Z</dcterms:created>
  <dcterms:modified xsi:type="dcterms:W3CDTF">2026-06-10T01:38:54Z</dcterms:modified>
</cp:coreProperties>
</file>